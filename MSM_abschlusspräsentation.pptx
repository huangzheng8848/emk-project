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9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508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2fd076e5b_4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g3d2fd076e5b_4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2fd076e5b_4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g3d2fd076e5b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2fd076e5b_4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g3d2fd076e5b_4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2fd076e5b_4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g3d2fd076e5b_4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2fd076e5b_4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3d2fd076e5b_4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2fd076e5b_4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d2fd076e5b_4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2fd076e5b_4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d2fd076e5b_4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2fd076e5b_4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g3d2fd076e5b_4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4f9a69d8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4f9a69d8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2fd076e5b_4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d2fd076e5b_4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32b24de99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32b24de99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2fd076e5b_4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9" name="Google Shape;239;g3d2fd076e5b_4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2fd076e5b_4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9" name="Google Shape;249;g3d2fd076e5b_4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2fd076e5b_4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d2fd076e5b_4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2fd076e5b_4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d2fd076e5b_4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2fd076e5b_4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4" name="Google Shape;274;g3d2fd076e5b_4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D1841330-6E85-2E98-9B64-EE32D4F2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2fd076e5b_4_183:notes">
            <a:extLst>
              <a:ext uri="{FF2B5EF4-FFF2-40B4-BE49-F238E27FC236}">
                <a16:creationId xmlns:a16="http://schemas.microsoft.com/office/drawing/2014/main" id="{9BB07F14-1825-3C11-4F2C-E7236186D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d2fd076e5b_4_183:notes">
            <a:extLst>
              <a:ext uri="{FF2B5EF4-FFF2-40B4-BE49-F238E27FC236}">
                <a16:creationId xmlns:a16="http://schemas.microsoft.com/office/drawing/2014/main" id="{0C518FBF-FDD9-323F-AEA4-7F1EF54EA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6778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3134537dc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90" name="Google Shape;290;g3d3134537dc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3134537dc_2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97" name="Google Shape;297;g3d3134537dc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3494e45b8_9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4" name="Google Shape;304;g3d3494e45b8_9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3e882616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3" name="Google Shape;313;g3d3e88261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3494e45b8_9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321" name="Google Shape;321;g3d3494e45b8_9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2fd076e5b_4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8" name="Google Shape;328;g3d2fd076e5b_4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7" descr="C:\Users\ozan\Desktop\Das Logo des Fachgebietes\Fertig\Logoentwurf_Stand_04.05.e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155" y="4101818"/>
            <a:ext cx="1700166" cy="4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539751" y="3104657"/>
            <a:ext cx="8061325" cy="863698"/>
          </a:xfrm>
        </p:spPr>
        <p:txBody>
          <a:bodyPr/>
          <a:lstStyle>
            <a:lvl1pPr>
              <a:defRPr b="0" baseline="0"/>
            </a:lvl1pPr>
          </a:lstStyle>
          <a:p>
            <a:pPr lvl="0"/>
            <a:r>
              <a:rPr lang="de-DE" altLang="de-DE" noProof="0" dirty="0"/>
              <a:t>Abschlusspräsentation SMM</a:t>
            </a:r>
            <a:br>
              <a:rPr lang="de-DE" altLang="de-DE" noProof="0" dirty="0"/>
            </a:br>
            <a:r>
              <a:rPr lang="de-DE" altLang="de-DE" noProof="0" dirty="0"/>
              <a:t>MSM-Demonstrator Projekt</a:t>
            </a:r>
            <a:br>
              <a:rPr lang="de-DE" altLang="de-DE" noProof="0" dirty="0"/>
            </a:br>
            <a:r>
              <a:rPr lang="de-DE" altLang="de-DE" noProof="0" dirty="0"/>
              <a:t>Erik </a:t>
            </a:r>
            <a:r>
              <a:rPr lang="de-DE" altLang="de-DE" noProof="0" dirty="0" err="1"/>
              <a:t>Schetsche</a:t>
            </a:r>
            <a:r>
              <a:rPr lang="de-DE" altLang="de-DE" noProof="0" dirty="0"/>
              <a:t> (504126), Fynn Zoll (508721)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39752" y="4259974"/>
            <a:ext cx="6305666" cy="194156"/>
          </a:xfrm>
        </p:spPr>
        <p:txBody>
          <a:bodyPr wrap="square" anchor="b">
            <a:spAutoFit/>
          </a:bodyPr>
          <a:lstStyle>
            <a:lvl1pPr marL="0" indent="0">
              <a:defRPr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altLang="de-DE" noProof="0" dirty="0"/>
              <a:t>10.04.2025</a:t>
            </a:r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539751" y="4601766"/>
            <a:ext cx="8061325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de-DE" sz="1350"/>
          </a:p>
        </p:txBody>
      </p:sp>
      <p:pic>
        <p:nvPicPr>
          <p:cNvPr id="4105" name="Picture 9" descr="TU_Logo_lang_RGB_rot_PPT-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489" y="404813"/>
            <a:ext cx="2160587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206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Titel und Inhal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539553" y="426417"/>
            <a:ext cx="8061325" cy="27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539552" y="1080000"/>
            <a:ext cx="8064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marL="914400" lvl="1" indent="-2984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–"/>
              <a:defRPr/>
            </a:lvl2pPr>
            <a:lvl3pPr marL="1371600" lvl="2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/>
            </a:lvl3pPr>
            <a:lvl4pPr marL="1828800" lvl="3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–"/>
              <a:defRPr/>
            </a:lvl4pPr>
            <a:lvl5pPr marL="2286000" lvl="4" indent="-2984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5189165" y="4918472"/>
            <a:ext cx="1970537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539750" y="4779169"/>
            <a:ext cx="6624638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800" b="1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014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TU_Logo_lang_RGB_rot_PPT-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7" y="249492"/>
            <a:ext cx="1004739" cy="41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7" descr="C:\Users\ozan\Desktop\Das Logo des Fachgebietes\Fertig\Logoentwurf_Stand_04.05.e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548" y="4781912"/>
            <a:ext cx="944537" cy="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9751" y="423467"/>
            <a:ext cx="8061325" cy="273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altLang="de-DE" dirty="0"/>
              <a:t>Titel durch Klicken hinzufügen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1" y="843559"/>
            <a:ext cx="8061325" cy="793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 altLang="de-DE" dirty="0"/>
              <a:t>Text </a:t>
            </a:r>
            <a:r>
              <a:rPr lang="de-DE" altLang="de-DE" dirty="0" err="1"/>
              <a:t>durck</a:t>
            </a:r>
            <a:r>
              <a:rPr lang="de-DE" altLang="de-DE" dirty="0"/>
              <a:t> Klicken hinzufügen</a:t>
            </a:r>
          </a:p>
          <a:p>
            <a:pPr lvl="1"/>
            <a:r>
              <a:rPr lang="de-DE" altLang="de-DE" dirty="0" err="1"/>
              <a:t>Xxx</a:t>
            </a:r>
            <a:endParaRPr lang="de-DE" altLang="de-DE" dirty="0"/>
          </a:p>
          <a:p>
            <a:pPr lvl="1"/>
            <a:endParaRPr lang="de-DE" altLang="de-DE" dirty="0"/>
          </a:p>
          <a:p>
            <a:pPr lvl="1"/>
            <a:endParaRPr lang="de-DE" altLang="de-DE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189165" y="4918472"/>
            <a:ext cx="1970537" cy="11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75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 smtClean="0"/>
              <a:t>‹#›</a:t>
            </a:fld>
            <a:endParaRPr lang="zh-CN" altLang="en-US"/>
          </a:p>
        </p:txBody>
      </p:sp>
      <p:sp>
        <p:nvSpPr>
          <p:cNvPr id="2" name="Rechteck 1"/>
          <p:cNvSpPr/>
          <p:nvPr/>
        </p:nvSpPr>
        <p:spPr bwMode="auto">
          <a:xfrm>
            <a:off x="1" y="735546"/>
            <a:ext cx="8584332" cy="54006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9751" y="4779169"/>
            <a:ext cx="6624638" cy="11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750" b="1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88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rtl="0" eaLnBrk="1" fontAlgn="base" hangingPunct="1">
        <a:lnSpc>
          <a:spcPts val="2250"/>
        </a:lnSpc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2250"/>
        </a:lnSpc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ts val="2250"/>
        </a:lnSpc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ts val="2250"/>
        </a:lnSpc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ts val="2250"/>
        </a:lnSpc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charset="0"/>
        </a:defRPr>
      </a:lvl5pPr>
      <a:lvl6pPr marL="342900" algn="l" rtl="0" eaLnBrk="1" fontAlgn="base" hangingPunct="1">
        <a:lnSpc>
          <a:spcPts val="2250"/>
        </a:lnSpc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charset="0"/>
        </a:defRPr>
      </a:lvl6pPr>
      <a:lvl7pPr marL="685800" algn="l" rtl="0" eaLnBrk="1" fontAlgn="base" hangingPunct="1">
        <a:lnSpc>
          <a:spcPts val="2250"/>
        </a:lnSpc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charset="0"/>
        </a:defRPr>
      </a:lvl7pPr>
      <a:lvl8pPr marL="1028700" algn="l" rtl="0" eaLnBrk="1" fontAlgn="base" hangingPunct="1">
        <a:lnSpc>
          <a:spcPts val="2250"/>
        </a:lnSpc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charset="0"/>
        </a:defRPr>
      </a:lvl8pPr>
      <a:lvl9pPr marL="1371600" algn="l" rtl="0" eaLnBrk="1" fontAlgn="base" hangingPunct="1">
        <a:lnSpc>
          <a:spcPts val="2250"/>
        </a:lnSpc>
        <a:spcBef>
          <a:spcPct val="0"/>
        </a:spcBef>
        <a:spcAft>
          <a:spcPct val="0"/>
        </a:spcAft>
        <a:defRPr sz="18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1" fontAlgn="base" hangingPunct="1">
        <a:lnSpc>
          <a:spcPts val="1650"/>
        </a:lnSpc>
        <a:spcBef>
          <a:spcPct val="0"/>
        </a:spcBef>
        <a:spcAft>
          <a:spcPct val="0"/>
        </a:spcAft>
        <a:defRPr sz="1050">
          <a:solidFill>
            <a:srgbClr val="000000"/>
          </a:solidFill>
          <a:latin typeface="+mn-lt"/>
          <a:ea typeface="+mn-ea"/>
          <a:cs typeface="+mn-cs"/>
        </a:defRPr>
      </a:lvl1pPr>
      <a:lvl2pPr marL="588169" marR="0" indent="-183356" algn="l" defTabSz="6858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Arial" charset="0"/>
        <a:buChar char="–"/>
        <a:tabLst/>
        <a:defRPr sz="1050">
          <a:solidFill>
            <a:srgbClr val="000000"/>
          </a:solidFill>
          <a:latin typeface="+mn-lt"/>
        </a:defRPr>
      </a:lvl2pPr>
      <a:lvl3pPr marL="894160" indent="-171450" algn="l" rtl="0" eaLnBrk="1" fontAlgn="base" hangingPunct="1">
        <a:spcBef>
          <a:spcPct val="20000"/>
        </a:spcBef>
        <a:spcAft>
          <a:spcPct val="0"/>
        </a:spcAft>
        <a:buChar char="•"/>
        <a:defRPr sz="105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Invers_control_dynamic_block(1)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ctrTitle"/>
          </p:nvPr>
        </p:nvSpPr>
        <p:spPr>
          <a:xfrm>
            <a:off x="-80367" y="1227494"/>
            <a:ext cx="5955686" cy="158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ts val="4500"/>
              <a:buFont typeface="Play"/>
              <a:buNone/>
            </a:pPr>
            <a:r>
              <a:rPr lang="zh-CN" sz="4100">
                <a:solidFill>
                  <a:srgbClr val="01202E"/>
                </a:solidFill>
              </a:rPr>
              <a:t>MSM_Abschluss-</a:t>
            </a:r>
            <a:br>
              <a:rPr lang="zh-CN" sz="4100">
                <a:solidFill>
                  <a:srgbClr val="01202E"/>
                </a:solidFill>
              </a:rPr>
            </a:br>
            <a:r>
              <a:rPr lang="zh-CN" sz="4100">
                <a:solidFill>
                  <a:srgbClr val="01202E"/>
                </a:solidFill>
              </a:rPr>
              <a:t>Präsentation</a:t>
            </a:r>
            <a:endParaRPr sz="4100">
              <a:solidFill>
                <a:srgbClr val="01202E"/>
              </a:solidFill>
            </a:endParaRPr>
          </a:p>
        </p:txBody>
      </p:sp>
      <p:sp>
        <p:nvSpPr>
          <p:cNvPr id="107" name="Google Shape;107;p21"/>
          <p:cNvSpPr txBox="1">
            <a:spLocks noGrp="1"/>
          </p:cNvSpPr>
          <p:nvPr>
            <p:ph type="subTitle" idx="1"/>
          </p:nvPr>
        </p:nvSpPr>
        <p:spPr>
          <a:xfrm>
            <a:off x="270034" y="3638193"/>
            <a:ext cx="1273016" cy="961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Hei"/>
              <a:buNone/>
            </a:pP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Zheng Huang</a:t>
            </a:r>
            <a:endParaRPr sz="1000" b="1">
              <a:solidFill>
                <a:schemeClr val="dk1"/>
              </a:solidFill>
              <a:latin typeface="SimHei"/>
              <a:ea typeface="SimHei"/>
              <a:cs typeface="SimHei"/>
              <a:sym typeface="Sim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Hei"/>
              <a:buNone/>
            </a:pP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Yihua Zhang</a:t>
            </a:r>
            <a:b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</a:b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Ruoqi Yang</a:t>
            </a:r>
            <a:endParaRPr sz="1000" b="1">
              <a:solidFill>
                <a:schemeClr val="dk1"/>
              </a:solidFill>
              <a:latin typeface="SimHei"/>
              <a:ea typeface="SimHei"/>
              <a:cs typeface="SimHei"/>
              <a:sym typeface="Sim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Hei"/>
              <a:buNone/>
            </a:pP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Xiyu Zhang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21"/>
          <p:cNvSpPr txBox="1">
            <a:spLocks noGrp="1"/>
          </p:cNvSpPr>
          <p:nvPr>
            <p:ph type="sldNum" idx="4294967295"/>
          </p:nvPr>
        </p:nvSpPr>
        <p:spPr>
          <a:xfrm>
            <a:off x="7086600" y="4708525"/>
            <a:ext cx="2057400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159" y="88107"/>
            <a:ext cx="1062945" cy="432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descr="C:/Users/29759/Desktop/图片1.png图片1"/>
          <p:cNvPicPr preferRelativeResize="0"/>
          <p:nvPr/>
        </p:nvPicPr>
        <p:blipFill rotWithShape="1">
          <a:blip r:embed="rId4">
            <a:alphaModFix/>
          </a:blip>
          <a:srcRect t="9240" b="9240"/>
          <a:stretch/>
        </p:blipFill>
        <p:spPr>
          <a:xfrm>
            <a:off x="4963121" y="1432632"/>
            <a:ext cx="4000500" cy="2530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ctrTitle"/>
          </p:nvPr>
        </p:nvSpPr>
        <p:spPr>
          <a:xfrm>
            <a:off x="656000" y="1271276"/>
            <a:ext cx="8067300" cy="21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0000"/>
          </a:bodyPr>
          <a:lstStyle/>
          <a:p>
            <a:pPr marL="457200" lvl="0" indent="-291465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zh-CN">
                <a:solidFill>
                  <a:schemeClr val="dk1"/>
                </a:solidFill>
              </a:rPr>
              <a:t>Physischer Aufbau</a:t>
            </a:r>
            <a:endParaRPr>
              <a:solidFill>
                <a:schemeClr val="dk1"/>
              </a:solidFill>
            </a:endParaRPr>
          </a:p>
          <a:p>
            <a:pPr marL="457200" lvl="0" indent="-2914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zh-CN">
                <a:solidFill>
                  <a:schemeClr val="dk1"/>
                </a:solidFill>
              </a:rPr>
              <a:t>Systemplan</a:t>
            </a:r>
            <a:endParaRPr>
              <a:solidFill>
                <a:schemeClr val="dk1"/>
              </a:solidFill>
            </a:endParaRPr>
          </a:p>
          <a:p>
            <a:pPr marL="457200" lvl="0" indent="-2914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zh-CN">
                <a:solidFill>
                  <a:schemeClr val="dk1"/>
                </a:solidFill>
              </a:rPr>
              <a:t>Visualisierung</a:t>
            </a:r>
            <a:endParaRPr>
              <a:solidFill>
                <a:schemeClr val="dk1"/>
              </a:solidFill>
            </a:endParaRPr>
          </a:p>
          <a:p>
            <a:pPr marL="457200" lvl="0" indent="-2914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zh-CN">
                <a:solidFill>
                  <a:schemeClr val="dk1"/>
                </a:solidFill>
              </a:rPr>
              <a:t>Ergebnis</a:t>
            </a:r>
            <a:endParaRPr>
              <a:solidFill>
                <a:schemeClr val="dk1"/>
              </a:solidFill>
            </a:endParaRPr>
          </a:p>
          <a:p>
            <a:pPr marL="457200" lvl="0" indent="-2914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zh-CN">
                <a:solidFill>
                  <a:schemeClr val="dk1"/>
                </a:solidFill>
              </a:rPr>
              <a:t>Zusammenfassung und Ausblick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1"/>
          </p:nvPr>
        </p:nvSpPr>
        <p:spPr>
          <a:xfrm>
            <a:off x="553595" y="3638194"/>
            <a:ext cx="1273016" cy="961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Hei"/>
              <a:buNone/>
            </a:pP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Zheng Huang</a:t>
            </a:r>
            <a:endParaRPr sz="1000" b="1">
              <a:solidFill>
                <a:schemeClr val="dk1"/>
              </a:solidFill>
              <a:latin typeface="SimHei"/>
              <a:ea typeface="SimHei"/>
              <a:cs typeface="SimHei"/>
              <a:sym typeface="Sim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Hei"/>
              <a:buNone/>
            </a:pP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Yihua Zhang</a:t>
            </a:r>
            <a:b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</a:b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Ruoqi Yang</a:t>
            </a:r>
            <a:endParaRPr sz="1000" b="1">
              <a:solidFill>
                <a:schemeClr val="dk1"/>
              </a:solidFill>
              <a:latin typeface="SimHei"/>
              <a:ea typeface="SimHei"/>
              <a:cs typeface="SimHei"/>
              <a:sym typeface="Sim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imHei"/>
              <a:buNone/>
            </a:pP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Xiyu Zhang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22"/>
          <p:cNvSpPr txBox="1">
            <a:spLocks noGrp="1"/>
          </p:cNvSpPr>
          <p:nvPr>
            <p:ph type="sldNum" idx="4294967295"/>
          </p:nvPr>
        </p:nvSpPr>
        <p:spPr>
          <a:xfrm>
            <a:off x="5098551" y="4908872"/>
            <a:ext cx="2057400" cy="17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 sz="800"/>
              <a:t>2</a:t>
            </a:fld>
            <a:endParaRPr sz="800" dirty="0"/>
          </a:p>
        </p:txBody>
      </p:sp>
      <p:pic>
        <p:nvPicPr>
          <p:cNvPr id="117" name="Google Shape;11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159" y="88107"/>
            <a:ext cx="1062945" cy="43259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553594" y="407055"/>
            <a:ext cx="2997300" cy="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ts val="4500"/>
              <a:buFont typeface="Play"/>
              <a:buNone/>
            </a:pPr>
            <a:r>
              <a:rPr lang="zh-CN" sz="3300" b="0" i="0" u="none" strike="noStrike" cap="none">
                <a:solidFill>
                  <a:srgbClr val="01202E"/>
                </a:solidFill>
                <a:latin typeface="Arial"/>
                <a:ea typeface="Arial"/>
                <a:cs typeface="Arial"/>
                <a:sym typeface="Arial"/>
              </a:rPr>
              <a:t>Übersicht</a:t>
            </a:r>
            <a:endParaRPr sz="1100"/>
          </a:p>
        </p:txBody>
      </p:sp>
      <p:pic>
        <p:nvPicPr>
          <p:cNvPr id="120" name="Google Shape;120;p22" descr="C:/Users/29759/Desktop/图片1.png图片1"/>
          <p:cNvPicPr preferRelativeResize="0"/>
          <p:nvPr/>
        </p:nvPicPr>
        <p:blipFill rotWithShape="1">
          <a:blip r:embed="rId4">
            <a:alphaModFix/>
          </a:blip>
          <a:srcRect t="9240" b="9240"/>
          <a:stretch/>
        </p:blipFill>
        <p:spPr>
          <a:xfrm>
            <a:off x="4256591" y="1405876"/>
            <a:ext cx="4000500" cy="2530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descr="C:/Users/29759/Desktop/图片1.png图片1"/>
          <p:cNvPicPr preferRelativeResize="0"/>
          <p:nvPr/>
        </p:nvPicPr>
        <p:blipFill rotWithShape="1">
          <a:blip r:embed="rId3">
            <a:alphaModFix/>
          </a:blip>
          <a:srcRect t="9240" b="9240"/>
          <a:stretch/>
        </p:blipFill>
        <p:spPr>
          <a:xfrm>
            <a:off x="2369165" y="0"/>
            <a:ext cx="7858800" cy="52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3"/>
          <p:cNvSpPr/>
          <p:nvPr/>
        </p:nvSpPr>
        <p:spPr>
          <a:xfrm>
            <a:off x="0" y="-15650"/>
            <a:ext cx="9207500" cy="5270500"/>
          </a:xfrm>
          <a:custGeom>
            <a:avLst/>
            <a:gdLst/>
            <a:ahLst/>
            <a:cxnLst/>
            <a:rect l="l" t="t" r="r" b="b"/>
            <a:pathLst>
              <a:path w="12276666" h="7027333" extrusionOk="0">
                <a:moveTo>
                  <a:pt x="0" y="0"/>
                </a:moveTo>
                <a:lnTo>
                  <a:pt x="6738005" y="0"/>
                </a:lnTo>
                <a:lnTo>
                  <a:pt x="9000024" y="4148063"/>
                </a:lnTo>
                <a:lnTo>
                  <a:pt x="11262043" y="0"/>
                </a:lnTo>
                <a:lnTo>
                  <a:pt x="11429217" y="0"/>
                </a:lnTo>
                <a:lnTo>
                  <a:pt x="10058795" y="2560111"/>
                </a:lnTo>
                <a:lnTo>
                  <a:pt x="12276666" y="6703355"/>
                </a:lnTo>
                <a:lnTo>
                  <a:pt x="12276666" y="6887639"/>
                </a:lnTo>
                <a:lnTo>
                  <a:pt x="9977338" y="2671159"/>
                </a:lnTo>
                <a:lnTo>
                  <a:pt x="7601832" y="7027333"/>
                </a:lnTo>
                <a:lnTo>
                  <a:pt x="0" y="7027333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3"/>
          <p:cNvSpPr txBox="1">
            <a:spLocks noGrp="1"/>
          </p:cNvSpPr>
          <p:nvPr>
            <p:ph type="ctrTitle"/>
          </p:nvPr>
        </p:nvSpPr>
        <p:spPr>
          <a:xfrm>
            <a:off x="504461" y="2229815"/>
            <a:ext cx="5126319" cy="77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ct val="111111"/>
              <a:buNone/>
            </a:pPr>
            <a:r>
              <a:rPr lang="zh-CN" sz="3600" dirty="0"/>
              <a:t>1. Physischer Aufbau</a:t>
            </a:r>
            <a:endParaRPr sz="3600" dirty="0">
              <a:solidFill>
                <a:srgbClr val="01202E"/>
              </a:solidFill>
            </a:endParaRPr>
          </a:p>
        </p:txBody>
      </p:sp>
      <p:sp>
        <p:nvSpPr>
          <p:cNvPr id="128" name="Google Shape;128;p23"/>
          <p:cNvSpPr txBox="1">
            <a:spLocks noGrp="1"/>
          </p:cNvSpPr>
          <p:nvPr>
            <p:ph type="sldNum" idx="4294967295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159" y="88107"/>
            <a:ext cx="1062945" cy="43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>
            <a:off x="332119" y="100800"/>
            <a:ext cx="7246125" cy="71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ts val="4500"/>
              <a:buFont typeface="Play"/>
              <a:buNone/>
            </a:pPr>
            <a:r>
              <a:rPr lang="zh-CN" sz="2900">
                <a:solidFill>
                  <a:srgbClr val="C00000"/>
                </a:solidFill>
              </a:rPr>
              <a:t>Physischer Aufbau</a:t>
            </a:r>
            <a:endParaRPr sz="2900">
              <a:solidFill>
                <a:srgbClr val="C00000"/>
              </a:solidFill>
            </a:endParaRPr>
          </a:p>
        </p:txBody>
      </p:sp>
      <p:sp>
        <p:nvSpPr>
          <p:cNvPr id="135" name="Google Shape;135;p24"/>
          <p:cNvSpPr txBox="1">
            <a:spLocks noGrp="1"/>
          </p:cNvSpPr>
          <p:nvPr>
            <p:ph type="sldNum" idx="12"/>
          </p:nvPr>
        </p:nvSpPr>
        <p:spPr>
          <a:xfrm>
            <a:off x="6189131" y="4869656"/>
            <a:ext cx="1814081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</a:pPr>
            <a:r>
              <a:rPr lang="zh-CN"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fld id="{00000000-1234-1234-1234-123412341234}" type="slidenum">
              <a:rPr lang="en-US" altLang="zh-CN"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900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4" title="微信图片_20260324133149_656_1919.jpg"/>
          <p:cNvPicPr preferRelativeResize="0"/>
          <p:nvPr/>
        </p:nvPicPr>
        <p:blipFill rotWithShape="1">
          <a:blip r:embed="rId3">
            <a:alphaModFix/>
          </a:blip>
          <a:srcRect l="14337" r="14337"/>
          <a:stretch/>
        </p:blipFill>
        <p:spPr>
          <a:xfrm rot="10800000">
            <a:off x="2836838" y="887419"/>
            <a:ext cx="3192303" cy="36866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/>
          <p:nvPr/>
        </p:nvSpPr>
        <p:spPr>
          <a:xfrm>
            <a:off x="1277600" y="1937225"/>
            <a:ext cx="1165500" cy="361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MSM-Aktor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/>
          <p:nvPr/>
        </p:nvSpPr>
        <p:spPr>
          <a:xfrm>
            <a:off x="1233000" y="3992452"/>
            <a:ext cx="1229175" cy="3615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 Uno R4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774025" y="917650"/>
            <a:ext cx="1773600" cy="361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Lasermesssystem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1172963" y="2879981"/>
            <a:ext cx="1347525" cy="3615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L298 Stromtreiber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4"/>
          <p:cNvSpPr/>
          <p:nvPr/>
        </p:nvSpPr>
        <p:spPr>
          <a:xfrm>
            <a:off x="6345500" y="1217575"/>
            <a:ext cx="1677300" cy="444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Auswertung Lasersignal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24"/>
          <p:cNvCxnSpPr/>
          <p:nvPr/>
        </p:nvCxnSpPr>
        <p:spPr>
          <a:xfrm rot="10800000" flipH="1">
            <a:off x="2443124" y="1569825"/>
            <a:ext cx="851810" cy="52610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24"/>
          <p:cNvCxnSpPr/>
          <p:nvPr/>
        </p:nvCxnSpPr>
        <p:spPr>
          <a:xfrm rot="10800000" flipH="1">
            <a:off x="2520487" y="2517525"/>
            <a:ext cx="774447" cy="52271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4" name="Google Shape;144;p24"/>
          <p:cNvCxnSpPr/>
          <p:nvPr/>
        </p:nvCxnSpPr>
        <p:spPr>
          <a:xfrm rot="10800000" flipH="1">
            <a:off x="2471288" y="3736257"/>
            <a:ext cx="1024745" cy="42331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5" name="Google Shape;145;p24"/>
          <p:cNvCxnSpPr/>
          <p:nvPr/>
        </p:nvCxnSpPr>
        <p:spPr>
          <a:xfrm>
            <a:off x="2547675" y="975832"/>
            <a:ext cx="1500092" cy="32292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" name="Google Shape;146;p24"/>
          <p:cNvCxnSpPr/>
          <p:nvPr/>
        </p:nvCxnSpPr>
        <p:spPr>
          <a:xfrm rot="10800000">
            <a:off x="4572000" y="3040238"/>
            <a:ext cx="1677338" cy="77142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24"/>
          <p:cNvCxnSpPr>
            <a:stCxn id="141" idx="1"/>
          </p:cNvCxnSpPr>
          <p:nvPr/>
        </p:nvCxnSpPr>
        <p:spPr>
          <a:xfrm flipH="1">
            <a:off x="5331500" y="1439875"/>
            <a:ext cx="1014000" cy="189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24"/>
          <p:cNvSpPr/>
          <p:nvPr/>
        </p:nvSpPr>
        <p:spPr>
          <a:xfrm>
            <a:off x="6345490" y="2087491"/>
            <a:ext cx="2208963" cy="36157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Wärmeableitungsmodul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24"/>
          <p:cNvCxnSpPr>
            <a:stCxn id="148" idx="1"/>
          </p:cNvCxnSpPr>
          <p:nvPr/>
        </p:nvCxnSpPr>
        <p:spPr>
          <a:xfrm flipH="1">
            <a:off x="4571890" y="2268278"/>
            <a:ext cx="1773600" cy="104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" name="Google Shape;150;p24"/>
          <p:cNvSpPr/>
          <p:nvPr/>
        </p:nvSpPr>
        <p:spPr>
          <a:xfrm>
            <a:off x="6249337" y="3692035"/>
            <a:ext cx="1897640" cy="39951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1,5 Ohm Messwiderstand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0767" y="2987072"/>
            <a:ext cx="1508551" cy="938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27775" y="825218"/>
            <a:ext cx="1391381" cy="119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1436" y="825218"/>
            <a:ext cx="1391381" cy="1139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90861" y="2967532"/>
            <a:ext cx="1343025" cy="1121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1649" y="1017290"/>
            <a:ext cx="1207294" cy="76438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/>
          <p:nvPr/>
        </p:nvSpPr>
        <p:spPr>
          <a:xfrm>
            <a:off x="501113" y="2023850"/>
            <a:ext cx="2126250" cy="8543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Kern-controller: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 Uno R4 MINIMA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Kontrollcode ausführen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788198" y="4178447"/>
            <a:ext cx="2392200" cy="8543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L298 Stromtreiber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u="sng">
                <a:solidFill>
                  <a:schemeClr val="dk1"/>
                </a:solidFill>
              </a:rPr>
              <a:t>Leicht zu Überhitzung</a:t>
            </a:r>
            <a:endParaRPr u="sng">
              <a:solidFill>
                <a:schemeClr val="dk1"/>
              </a:solidFill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3309196" y="2012372"/>
            <a:ext cx="2392200" cy="8543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1,5 Ohm Messwiderstand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Ohmsches gesetz V = I x 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6174433" y="2024384"/>
            <a:ext cx="2392200" cy="854325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Lasermesssystem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u="sng">
                <a:solidFill>
                  <a:schemeClr val="dk1"/>
                </a:solidFill>
              </a:rPr>
              <a:t>Auflösung = 0.3µm</a:t>
            </a:r>
            <a:endParaRPr sz="14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4368950" y="4136562"/>
            <a:ext cx="2392200" cy="938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Lastaktor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Tauchspulenaktor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N/A Kraftkonstante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6" descr="C:/Users/29759/Desktop/图片1.png图片1"/>
          <p:cNvPicPr preferRelativeResize="0"/>
          <p:nvPr/>
        </p:nvPicPr>
        <p:blipFill rotWithShape="1">
          <a:blip r:embed="rId4">
            <a:alphaModFix/>
          </a:blip>
          <a:srcRect t="9240" b="9240"/>
          <a:stretch/>
        </p:blipFill>
        <p:spPr>
          <a:xfrm>
            <a:off x="2369165" y="0"/>
            <a:ext cx="7858800" cy="52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/>
          <p:nvPr/>
        </p:nvSpPr>
        <p:spPr>
          <a:xfrm>
            <a:off x="0" y="-15650"/>
            <a:ext cx="9207500" cy="5270500"/>
          </a:xfrm>
          <a:custGeom>
            <a:avLst/>
            <a:gdLst/>
            <a:ahLst/>
            <a:cxnLst/>
            <a:rect l="l" t="t" r="r" b="b"/>
            <a:pathLst>
              <a:path w="12276666" h="7027333" extrusionOk="0">
                <a:moveTo>
                  <a:pt x="0" y="0"/>
                </a:moveTo>
                <a:lnTo>
                  <a:pt x="6738005" y="0"/>
                </a:lnTo>
                <a:lnTo>
                  <a:pt x="9000024" y="4148063"/>
                </a:lnTo>
                <a:lnTo>
                  <a:pt x="11262043" y="0"/>
                </a:lnTo>
                <a:lnTo>
                  <a:pt x="11429217" y="0"/>
                </a:lnTo>
                <a:lnTo>
                  <a:pt x="10058795" y="2560111"/>
                </a:lnTo>
                <a:lnTo>
                  <a:pt x="12276666" y="6703355"/>
                </a:lnTo>
                <a:lnTo>
                  <a:pt x="12276666" y="6887639"/>
                </a:lnTo>
                <a:lnTo>
                  <a:pt x="9977338" y="2671159"/>
                </a:lnTo>
                <a:lnTo>
                  <a:pt x="7601832" y="7027333"/>
                </a:lnTo>
                <a:lnTo>
                  <a:pt x="0" y="7027333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6"/>
          <p:cNvSpPr txBox="1">
            <a:spLocks noGrp="1"/>
          </p:cNvSpPr>
          <p:nvPr>
            <p:ph type="ctrTitle"/>
          </p:nvPr>
        </p:nvSpPr>
        <p:spPr>
          <a:xfrm>
            <a:off x="504461" y="2229815"/>
            <a:ext cx="5126319" cy="77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ct val="111111"/>
            </a:pPr>
            <a:r>
              <a:rPr lang="en-US" altLang="zh-CN" sz="3600" dirty="0"/>
              <a:t>2. Systemplan</a:t>
            </a:r>
            <a:endParaRPr sz="3600" dirty="0"/>
          </a:p>
        </p:txBody>
      </p:sp>
      <p:sp>
        <p:nvSpPr>
          <p:cNvPr id="173" name="Google Shape;173;p26"/>
          <p:cNvSpPr txBox="1">
            <a:spLocks noGrp="1"/>
          </p:cNvSpPr>
          <p:nvPr>
            <p:ph type="sldNum" idx="4294967295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159" y="88107"/>
            <a:ext cx="1062945" cy="432594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/>
          <p:nvPr/>
        </p:nvSpPr>
        <p:spPr>
          <a:xfrm>
            <a:off x="2461763" y="1289663"/>
            <a:ext cx="1898325" cy="1509525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 und Stromtreiber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5607600" y="1265011"/>
            <a:ext cx="1898325" cy="1509525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zh-CN" sz="1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</a:t>
            </a:r>
            <a:endParaRPr sz="1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27"/>
          <p:cNvCxnSpPr/>
          <p:nvPr/>
        </p:nvCxnSpPr>
        <p:spPr>
          <a:xfrm rot="10800000">
            <a:off x="4358438" y="2385075"/>
            <a:ext cx="117437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82" name="Google Shape;182;p27"/>
          <p:cNvCxnSpPr/>
          <p:nvPr/>
        </p:nvCxnSpPr>
        <p:spPr>
          <a:xfrm>
            <a:off x="4358438" y="1687406"/>
            <a:ext cx="1220777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83" name="Google Shape;183;p27"/>
          <p:cNvSpPr txBox="1"/>
          <p:nvPr/>
        </p:nvSpPr>
        <p:spPr>
          <a:xfrm>
            <a:off x="4457083" y="1376503"/>
            <a:ext cx="1075725" cy="27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zh-C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X-Messung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4467653" y="2075417"/>
            <a:ext cx="1018850" cy="268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zh-C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I-soll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2355941" y="3656227"/>
            <a:ext cx="1075725" cy="768375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zh-CN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Aktor Spule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27"/>
          <p:cNvCxnSpPr/>
          <p:nvPr/>
        </p:nvCxnSpPr>
        <p:spPr>
          <a:xfrm>
            <a:off x="2835752" y="2799131"/>
            <a:ext cx="0" cy="858722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87" name="Google Shape;187;p27"/>
          <p:cNvSpPr txBox="1"/>
          <p:nvPr/>
        </p:nvSpPr>
        <p:spPr>
          <a:xfrm>
            <a:off x="7710525" y="1871300"/>
            <a:ext cx="1264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zh-C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Dehnung-soll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6049026" y="3300933"/>
            <a:ext cx="2475450" cy="63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Dehnungsberechnung in PC arbeiten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27"/>
          <p:cNvCxnSpPr/>
          <p:nvPr/>
        </p:nvCxnSpPr>
        <p:spPr>
          <a:xfrm rot="10800000">
            <a:off x="6585150" y="2774536"/>
            <a:ext cx="595344" cy="609107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90" name="Google Shape;190;p27"/>
          <p:cNvCxnSpPr/>
          <p:nvPr/>
        </p:nvCxnSpPr>
        <p:spPr>
          <a:xfrm flipH="1">
            <a:off x="7505925" y="2135090"/>
            <a:ext cx="269912" cy="22692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91" name="Google Shape;191;p27"/>
          <p:cNvSpPr/>
          <p:nvPr/>
        </p:nvSpPr>
        <p:spPr>
          <a:xfrm>
            <a:off x="810779" y="857849"/>
            <a:ext cx="1075725" cy="768375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zh-CN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Laser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2103659" y="938281"/>
            <a:ext cx="1075725" cy="27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zh-C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X-Messung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27"/>
          <p:cNvCxnSpPr>
            <a:stCxn id="191" idx="3"/>
          </p:cNvCxnSpPr>
          <p:nvPr/>
        </p:nvCxnSpPr>
        <p:spPr>
          <a:xfrm>
            <a:off x="1886504" y="1242036"/>
            <a:ext cx="615300" cy="14340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94" name="Google Shape;194;p27"/>
          <p:cNvSpPr txBox="1"/>
          <p:nvPr/>
        </p:nvSpPr>
        <p:spPr>
          <a:xfrm>
            <a:off x="3166100" y="3256094"/>
            <a:ext cx="651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zh-CN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PWM</a:t>
            </a: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title"/>
          </p:nvPr>
        </p:nvSpPr>
        <p:spPr>
          <a:xfrm>
            <a:off x="259800" y="158025"/>
            <a:ext cx="7246125" cy="71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ts val="4500"/>
              <a:buFont typeface="Play"/>
              <a:buNone/>
            </a:pPr>
            <a:r>
              <a:rPr lang="zh-CN" sz="2900"/>
              <a:t>Systemplan</a:t>
            </a:r>
            <a:endParaRPr sz="2900"/>
          </a:p>
        </p:txBody>
      </p:sp>
      <p:sp>
        <p:nvSpPr>
          <p:cNvPr id="195" name="Google Shape;195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  <p:sp>
        <p:nvSpPr>
          <p:cNvPr id="196" name="Google Shape;196;p27"/>
          <p:cNvSpPr/>
          <p:nvPr/>
        </p:nvSpPr>
        <p:spPr>
          <a:xfrm>
            <a:off x="3586969" y="3657919"/>
            <a:ext cx="1075725" cy="768375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zh-CN"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Aktor Last</a:t>
            </a:r>
            <a:endParaRPr sz="15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27"/>
          <p:cNvCxnSpPr/>
          <p:nvPr/>
        </p:nvCxnSpPr>
        <p:spPr>
          <a:xfrm>
            <a:off x="4059160" y="2799131"/>
            <a:ext cx="0" cy="858788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98" name="Google Shape;198;p27"/>
          <p:cNvSpPr/>
          <p:nvPr/>
        </p:nvSpPr>
        <p:spPr>
          <a:xfrm>
            <a:off x="3053162" y="2879483"/>
            <a:ext cx="876900" cy="3210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zh-CN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 PI-regler</a:t>
            </a: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402586" y="1922549"/>
            <a:ext cx="1419578" cy="425084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Messwiderstand</a:t>
            </a: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" name="Google Shape;200;p27"/>
          <p:cNvCxnSpPr/>
          <p:nvPr/>
        </p:nvCxnSpPr>
        <p:spPr>
          <a:xfrm rot="5400000" flipH="1">
            <a:off x="997841" y="2496749"/>
            <a:ext cx="2078550" cy="1773900"/>
          </a:xfrm>
          <a:prstGeom prst="bentConnector3">
            <a:avLst>
              <a:gd name="adj1" fmla="val -11768"/>
            </a:avLst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01" name="Google Shape;201;p27"/>
          <p:cNvCxnSpPr>
            <a:stCxn id="196" idx="2"/>
          </p:cNvCxnSpPr>
          <p:nvPr/>
        </p:nvCxnSpPr>
        <p:spPr>
          <a:xfrm rot="5400000" flipH="1">
            <a:off x="1358081" y="1659544"/>
            <a:ext cx="2082000" cy="3451500"/>
          </a:xfrm>
          <a:prstGeom prst="bentConnector4">
            <a:avLst>
              <a:gd name="adj1" fmla="val -23096"/>
              <a:gd name="adj2" fmla="val 99771"/>
            </a:avLst>
          </a:prstGeom>
          <a:noFill/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202" name="Google Shape;202;p27"/>
          <p:cNvCxnSpPr>
            <a:stCxn id="199" idx="3"/>
          </p:cNvCxnSpPr>
          <p:nvPr/>
        </p:nvCxnSpPr>
        <p:spPr>
          <a:xfrm>
            <a:off x="1822163" y="2135091"/>
            <a:ext cx="639600" cy="0"/>
          </a:xfrm>
          <a:prstGeom prst="straightConnector1">
            <a:avLst/>
          </a:prstGeom>
          <a:noFill/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03" name="Google Shape;203;p27"/>
          <p:cNvSpPr txBox="1"/>
          <p:nvPr/>
        </p:nvSpPr>
        <p:spPr>
          <a:xfrm>
            <a:off x="1781994" y="1703453"/>
            <a:ext cx="719938" cy="27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zh-CN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I-Messung</a:t>
            </a: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8" descr="C:/Users/29759/Desktop/图片1.png图片1"/>
          <p:cNvPicPr preferRelativeResize="0"/>
          <p:nvPr/>
        </p:nvPicPr>
        <p:blipFill rotWithShape="1">
          <a:blip r:embed="rId4">
            <a:alphaModFix/>
          </a:blip>
          <a:srcRect t="9240" b="9240"/>
          <a:stretch/>
        </p:blipFill>
        <p:spPr>
          <a:xfrm>
            <a:off x="2369165" y="0"/>
            <a:ext cx="7858800" cy="52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/>
          <p:nvPr/>
        </p:nvSpPr>
        <p:spPr>
          <a:xfrm>
            <a:off x="0" y="-15650"/>
            <a:ext cx="9207500" cy="5270500"/>
          </a:xfrm>
          <a:custGeom>
            <a:avLst/>
            <a:gdLst/>
            <a:ahLst/>
            <a:cxnLst/>
            <a:rect l="l" t="t" r="r" b="b"/>
            <a:pathLst>
              <a:path w="12276666" h="7027333" extrusionOk="0">
                <a:moveTo>
                  <a:pt x="0" y="0"/>
                </a:moveTo>
                <a:lnTo>
                  <a:pt x="6738005" y="0"/>
                </a:lnTo>
                <a:lnTo>
                  <a:pt x="9000024" y="4148063"/>
                </a:lnTo>
                <a:lnTo>
                  <a:pt x="11262043" y="0"/>
                </a:lnTo>
                <a:lnTo>
                  <a:pt x="11429217" y="0"/>
                </a:lnTo>
                <a:lnTo>
                  <a:pt x="10058795" y="2560111"/>
                </a:lnTo>
                <a:lnTo>
                  <a:pt x="12276666" y="6703355"/>
                </a:lnTo>
                <a:lnTo>
                  <a:pt x="12276666" y="6887639"/>
                </a:lnTo>
                <a:lnTo>
                  <a:pt x="9977338" y="2671159"/>
                </a:lnTo>
                <a:lnTo>
                  <a:pt x="7601832" y="7027333"/>
                </a:lnTo>
                <a:lnTo>
                  <a:pt x="0" y="7027333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ctrTitle"/>
          </p:nvPr>
        </p:nvSpPr>
        <p:spPr>
          <a:xfrm>
            <a:off x="504461" y="2229815"/>
            <a:ext cx="5126319" cy="77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ct val="111111"/>
              <a:buNone/>
            </a:pPr>
            <a:r>
              <a:rPr lang="en-US" altLang="zh-CN" sz="3600" dirty="0"/>
              <a:t>3. Visualisierung</a:t>
            </a:r>
            <a:endParaRPr sz="3600" dirty="0"/>
          </a:p>
        </p:txBody>
      </p:sp>
      <p:sp>
        <p:nvSpPr>
          <p:cNvPr id="212" name="Google Shape;212;p28"/>
          <p:cNvSpPr txBox="1">
            <a:spLocks noGrp="1"/>
          </p:cNvSpPr>
          <p:nvPr>
            <p:ph type="sldNum" idx="4294967295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  <p:pic>
        <p:nvPicPr>
          <p:cNvPr id="213" name="Google Shape;213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7159" y="88107"/>
            <a:ext cx="1062945" cy="432594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>
            <a:spLocks noGrp="1"/>
          </p:cNvSpPr>
          <p:nvPr>
            <p:ph type="title"/>
          </p:nvPr>
        </p:nvSpPr>
        <p:spPr>
          <a:xfrm>
            <a:off x="481703" y="287267"/>
            <a:ext cx="80613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ts val="4500"/>
              <a:buFont typeface="Play"/>
              <a:buNone/>
            </a:pPr>
            <a:r>
              <a:rPr lang="zh-CN" sz="2900"/>
              <a:t>Messprogramm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ldNum" idx="12"/>
          </p:nvPr>
        </p:nvSpPr>
        <p:spPr>
          <a:xfrm>
            <a:off x="5156275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  <p:pic>
        <p:nvPicPr>
          <p:cNvPr id="219" name="Google Shape;21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9792"/>
            <a:ext cx="8839200" cy="328017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/>
          <p:nvPr/>
        </p:nvSpPr>
        <p:spPr>
          <a:xfrm>
            <a:off x="5387025" y="3424075"/>
            <a:ext cx="1099500" cy="75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5436825" y="3551425"/>
            <a:ext cx="9999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/>
              <a:t>PI-Regler</a:t>
            </a:r>
            <a:br>
              <a:rPr lang="zh-CN" sz="1200" b="1"/>
            </a:br>
            <a:r>
              <a:rPr lang="zh-CN" sz="1200" b="1"/>
              <a:t>Last-Aktor</a:t>
            </a:r>
            <a:endParaRPr sz="12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>
            <a:spLocks noGrp="1"/>
          </p:cNvSpPr>
          <p:nvPr>
            <p:ph type="title"/>
          </p:nvPr>
        </p:nvSpPr>
        <p:spPr>
          <a:xfrm>
            <a:off x="343688" y="119306"/>
            <a:ext cx="7246125" cy="71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rgbClr val="C00000"/>
                </a:solidFill>
              </a:rPr>
              <a:t>PI-regler Implementierung</a:t>
            </a:r>
            <a:endParaRPr sz="2900">
              <a:solidFill>
                <a:srgbClr val="C00000"/>
              </a:solidFill>
            </a:endParaRPr>
          </a:p>
        </p:txBody>
      </p:sp>
      <p:sp>
        <p:nvSpPr>
          <p:cNvPr id="228" name="Google Shape;228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  <p:pic>
        <p:nvPicPr>
          <p:cNvPr id="229" name="Google Shape;22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850" y="1075548"/>
            <a:ext cx="6338975" cy="34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>
            <a:spLocks noGrp="1"/>
          </p:cNvSpPr>
          <p:nvPr>
            <p:ph type="title"/>
          </p:nvPr>
        </p:nvSpPr>
        <p:spPr>
          <a:xfrm>
            <a:off x="481703" y="287267"/>
            <a:ext cx="8061300" cy="4017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ts val="4500"/>
              <a:buFont typeface="Play"/>
              <a:buNone/>
            </a:pPr>
            <a:r>
              <a:rPr lang="zh-CN" sz="2900"/>
              <a:t>Messprogramm</a:t>
            </a:r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sldNum" idx="12"/>
          </p:nvPr>
        </p:nvSpPr>
        <p:spPr>
          <a:xfrm>
            <a:off x="5156275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575" y="807050"/>
            <a:ext cx="4994099" cy="429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>
            <a:spLocks noGrp="1"/>
          </p:cNvSpPr>
          <p:nvPr>
            <p:ph type="title"/>
          </p:nvPr>
        </p:nvSpPr>
        <p:spPr>
          <a:xfrm>
            <a:off x="343688" y="119306"/>
            <a:ext cx="7246125" cy="71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/>
              <a:t>Dehnungsmessung</a:t>
            </a:r>
            <a:endParaRPr sz="2900">
              <a:solidFill>
                <a:srgbClr val="01202E"/>
              </a:solidFill>
            </a:endParaRPr>
          </a:p>
        </p:txBody>
      </p:sp>
      <p:sp>
        <p:nvSpPr>
          <p:cNvPr id="242" name="Google Shape;242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 l="4767" t="5158" r="5014" b="2331"/>
          <a:stretch/>
        </p:blipFill>
        <p:spPr>
          <a:xfrm>
            <a:off x="1181222" y="838176"/>
            <a:ext cx="6266805" cy="383351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2"/>
          <p:cNvSpPr/>
          <p:nvPr/>
        </p:nvSpPr>
        <p:spPr>
          <a:xfrm>
            <a:off x="2048128" y="3879570"/>
            <a:ext cx="598200" cy="603300"/>
          </a:xfrm>
          <a:prstGeom prst="ellipse">
            <a:avLst/>
          </a:prstGeom>
          <a:noFill/>
          <a:ln w="25400" cap="flat" cmpd="sng">
            <a:solidFill>
              <a:srgbClr val="2F2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1587501" y="4650501"/>
            <a:ext cx="55722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 Dehnungsmessung von -1.0A ~ 1.0A (Schritt mit 0.2A)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2"/>
          <p:cNvSpPr txBox="1"/>
          <p:nvPr/>
        </p:nvSpPr>
        <p:spPr>
          <a:xfrm>
            <a:off x="7448025" y="1479475"/>
            <a:ext cx="12600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/>
              <a:t>Lastkraft = 4N</a:t>
            </a:r>
            <a:endParaRPr sz="12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>
            <a:spLocks noGrp="1"/>
          </p:cNvSpPr>
          <p:nvPr>
            <p:ph type="title"/>
          </p:nvPr>
        </p:nvSpPr>
        <p:spPr>
          <a:xfrm>
            <a:off x="343688" y="119306"/>
            <a:ext cx="7246125" cy="71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/>
              <a:t>Dehnungsmessung</a:t>
            </a:r>
            <a:endParaRPr sz="2900">
              <a:solidFill>
                <a:srgbClr val="01202E"/>
              </a:solidFill>
            </a:endParaRPr>
          </a:p>
        </p:txBody>
      </p:sp>
      <p:sp>
        <p:nvSpPr>
          <p:cNvPr id="252" name="Google Shape;252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  <p:pic>
        <p:nvPicPr>
          <p:cNvPr id="253" name="Google Shape;253;p33"/>
          <p:cNvPicPr preferRelativeResize="0"/>
          <p:nvPr/>
        </p:nvPicPr>
        <p:blipFill rotWithShape="1">
          <a:blip r:embed="rId3">
            <a:alphaModFix/>
          </a:blip>
          <a:srcRect l="4556" t="5875" r="6626" b="3033"/>
          <a:stretch/>
        </p:blipFill>
        <p:spPr>
          <a:xfrm>
            <a:off x="1583924" y="866902"/>
            <a:ext cx="5575778" cy="374585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/>
          <p:cNvSpPr txBox="1"/>
          <p:nvPr/>
        </p:nvSpPr>
        <p:spPr>
          <a:xfrm>
            <a:off x="1984298" y="4641473"/>
            <a:ext cx="5048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Die Dehnungsmessung von -1.0A ~ 1.0A (Schritt mit 0.1A)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1907864" y="3351516"/>
            <a:ext cx="2346158" cy="1175657"/>
          </a:xfrm>
          <a:prstGeom prst="ellipse">
            <a:avLst/>
          </a:prstGeom>
          <a:noFill/>
          <a:ln w="25400" cap="flat" cmpd="sng">
            <a:solidFill>
              <a:srgbClr val="2F2F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7448025" y="1479475"/>
            <a:ext cx="1260000" cy="3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/>
              <a:t>Lastkraft = 4N</a:t>
            </a:r>
            <a:endParaRPr sz="12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>
            <a:spLocks noGrp="1"/>
          </p:cNvSpPr>
          <p:nvPr>
            <p:ph type="title"/>
          </p:nvPr>
        </p:nvSpPr>
        <p:spPr>
          <a:xfrm>
            <a:off x="343688" y="119306"/>
            <a:ext cx="7246125" cy="71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7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rgbClr val="C00000"/>
                </a:solidFill>
              </a:rPr>
              <a:t>Everett Funktionsflächenkonstruktion</a:t>
            </a:r>
            <a:endParaRPr sz="2900">
              <a:solidFill>
                <a:srgbClr val="C00000"/>
              </a:solidFill>
            </a:endParaRPr>
          </a:p>
        </p:txBody>
      </p:sp>
      <p:sp>
        <p:nvSpPr>
          <p:cNvPr id="262" name="Google Shape;262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  <p:pic>
        <p:nvPicPr>
          <p:cNvPr id="263" name="Google Shape;26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3671" y="791172"/>
            <a:ext cx="5896142" cy="41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557" y="985627"/>
            <a:ext cx="5870406" cy="398999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5"/>
          <p:cNvSpPr txBox="1">
            <a:spLocks noGrp="1"/>
          </p:cNvSpPr>
          <p:nvPr>
            <p:ph type="title"/>
          </p:nvPr>
        </p:nvSpPr>
        <p:spPr>
          <a:xfrm>
            <a:off x="343688" y="119306"/>
            <a:ext cx="7246125" cy="71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76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900">
                <a:solidFill>
                  <a:srgbClr val="C00000"/>
                </a:solidFill>
              </a:rPr>
              <a:t>Everett Funktionsflächenkonstruktion</a:t>
            </a:r>
            <a:endParaRPr sz="2900">
              <a:solidFill>
                <a:srgbClr val="C00000"/>
              </a:solidFill>
            </a:endParaRPr>
          </a:p>
        </p:txBody>
      </p:sp>
      <p:sp>
        <p:nvSpPr>
          <p:cNvPr id="270" name="Google Shape;270;p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  <p:sp>
        <p:nvSpPr>
          <p:cNvPr id="271" name="Google Shape;271;p35"/>
          <p:cNvSpPr txBox="1"/>
          <p:nvPr/>
        </p:nvSpPr>
        <p:spPr>
          <a:xfrm>
            <a:off x="2436465" y="4584323"/>
            <a:ext cx="457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Schritt mit 0.1A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6" descr="C:/Users/29759/Desktop/图片1.png图片1"/>
          <p:cNvPicPr preferRelativeResize="0"/>
          <p:nvPr/>
        </p:nvPicPr>
        <p:blipFill rotWithShape="1">
          <a:blip r:embed="rId3">
            <a:alphaModFix/>
          </a:blip>
          <a:srcRect t="9236" b="9244"/>
          <a:stretch/>
        </p:blipFill>
        <p:spPr>
          <a:xfrm>
            <a:off x="2369165" y="0"/>
            <a:ext cx="7858800" cy="52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/>
          <p:nvPr/>
        </p:nvSpPr>
        <p:spPr>
          <a:xfrm>
            <a:off x="0" y="-15650"/>
            <a:ext cx="9207500" cy="5270500"/>
          </a:xfrm>
          <a:custGeom>
            <a:avLst/>
            <a:gdLst/>
            <a:ahLst/>
            <a:cxnLst/>
            <a:rect l="l" t="t" r="r" b="b"/>
            <a:pathLst>
              <a:path w="12276666" h="7027333" extrusionOk="0">
                <a:moveTo>
                  <a:pt x="0" y="0"/>
                </a:moveTo>
                <a:lnTo>
                  <a:pt x="6738005" y="0"/>
                </a:lnTo>
                <a:lnTo>
                  <a:pt x="9000024" y="4148063"/>
                </a:lnTo>
                <a:lnTo>
                  <a:pt x="11262043" y="0"/>
                </a:lnTo>
                <a:lnTo>
                  <a:pt x="11429217" y="0"/>
                </a:lnTo>
                <a:lnTo>
                  <a:pt x="10058795" y="2560111"/>
                </a:lnTo>
                <a:lnTo>
                  <a:pt x="12276666" y="6703355"/>
                </a:lnTo>
                <a:lnTo>
                  <a:pt x="12276666" y="6887639"/>
                </a:lnTo>
                <a:lnTo>
                  <a:pt x="9977338" y="2671159"/>
                </a:lnTo>
                <a:lnTo>
                  <a:pt x="7601832" y="7027333"/>
                </a:lnTo>
                <a:lnTo>
                  <a:pt x="0" y="7027333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6"/>
          <p:cNvSpPr txBox="1">
            <a:spLocks noGrp="1"/>
          </p:cNvSpPr>
          <p:nvPr>
            <p:ph type="ctrTitle"/>
          </p:nvPr>
        </p:nvSpPr>
        <p:spPr>
          <a:xfrm>
            <a:off x="256400" y="1941816"/>
            <a:ext cx="5415300" cy="1546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ct val="111111"/>
            </a:pPr>
            <a:r>
              <a:rPr lang="en-US" altLang="zh-CN" sz="4000" dirty="0"/>
              <a:t>4. Dehnungkontrolle</a:t>
            </a:r>
            <a:endParaRPr sz="4000" dirty="0"/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ct val="111111"/>
            </a:pPr>
            <a:r>
              <a:rPr lang="en-US" altLang="zh-CN" sz="4000" dirty="0"/>
              <a:t>Dynamik-Block &amp; Ergebnis</a:t>
            </a:r>
            <a:endParaRPr sz="4000" dirty="0"/>
          </a:p>
        </p:txBody>
      </p:sp>
      <p:sp>
        <p:nvSpPr>
          <p:cNvPr id="279" name="Google Shape;279;p36"/>
          <p:cNvSpPr txBox="1">
            <a:spLocks noGrp="1"/>
          </p:cNvSpPr>
          <p:nvPr>
            <p:ph type="sldNum" idx="4294967295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  <p:pic>
        <p:nvPicPr>
          <p:cNvPr id="280" name="Google Shape;280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159" y="88107"/>
            <a:ext cx="1062945" cy="43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D96F5AB5-C787-5FF2-5FBB-07DBE359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>
            <a:extLst>
              <a:ext uri="{FF2B5EF4-FFF2-40B4-BE49-F238E27FC236}">
                <a16:creationId xmlns:a16="http://schemas.microsoft.com/office/drawing/2014/main" id="{7CD74379-CE7F-0889-45EB-03888E57D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688" y="119306"/>
            <a:ext cx="7246125" cy="71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>
              <a:lnSpc>
                <a:spcPct val="76923"/>
              </a:lnSpc>
            </a:pPr>
            <a:r>
              <a:rPr lang="zh-CN" altLang="zh-CN" sz="2900" dirty="0"/>
              <a:t>Inverse-Kontrolle</a:t>
            </a:r>
            <a:endParaRPr sz="2900" dirty="0">
              <a:solidFill>
                <a:srgbClr val="C00000"/>
              </a:solidFill>
            </a:endParaRPr>
          </a:p>
        </p:txBody>
      </p:sp>
      <p:sp>
        <p:nvSpPr>
          <p:cNvPr id="270" name="Google Shape;270;p35">
            <a:extLst>
              <a:ext uri="{FF2B5EF4-FFF2-40B4-BE49-F238E27FC236}">
                <a16:creationId xmlns:a16="http://schemas.microsoft.com/office/drawing/2014/main" id="{4B23C82F-CB0E-1C6E-079D-82473648AE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  <p:sp>
        <p:nvSpPr>
          <p:cNvPr id="271" name="Google Shape;271;p35">
            <a:extLst>
              <a:ext uri="{FF2B5EF4-FFF2-40B4-BE49-F238E27FC236}">
                <a16:creationId xmlns:a16="http://schemas.microsoft.com/office/drawing/2014/main" id="{DF3BE221-41FE-08BC-C9E3-0F85E150E997}"/>
              </a:ext>
            </a:extLst>
          </p:cNvPr>
          <p:cNvSpPr txBox="1"/>
          <p:nvPr/>
        </p:nvSpPr>
        <p:spPr>
          <a:xfrm>
            <a:off x="2436465" y="4584323"/>
            <a:ext cx="45728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Schritt mit 0.1A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37">
            <a:hlinkClick r:id="rId3" action="ppaction://hlinkfile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933" y="993022"/>
            <a:ext cx="6110624" cy="4039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766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"/>
          <p:cNvSpPr txBox="1">
            <a:spLocks noGrp="1"/>
          </p:cNvSpPr>
          <p:nvPr>
            <p:ph type="title"/>
          </p:nvPr>
        </p:nvSpPr>
        <p:spPr>
          <a:xfrm>
            <a:off x="200938" y="27556"/>
            <a:ext cx="72462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SzPct val="42146"/>
              <a:buNone/>
            </a:pPr>
            <a:r>
              <a:rPr lang="zh-CN" sz="2900"/>
              <a:t>Vergleich der Kennlinien (Ohne Online-Learning &amp; Updates und Ohne Mikroschritten)</a:t>
            </a:r>
            <a:endParaRPr sz="2900"/>
          </a:p>
        </p:txBody>
      </p:sp>
      <p:sp>
        <p:nvSpPr>
          <p:cNvPr id="293" name="Google Shape;293;p3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  <p:pic>
        <p:nvPicPr>
          <p:cNvPr id="294" name="Google Shape;294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780" y="970280"/>
            <a:ext cx="5948680" cy="3948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>
            <a:spLocks noGrp="1"/>
          </p:cNvSpPr>
          <p:nvPr>
            <p:ph type="title"/>
          </p:nvPr>
        </p:nvSpPr>
        <p:spPr>
          <a:xfrm>
            <a:off x="343688" y="119306"/>
            <a:ext cx="7246125" cy="71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 sz="2900">
                <a:solidFill>
                  <a:srgbClr val="C00000"/>
                </a:solidFill>
              </a:rPr>
              <a:t>Vergleich der Kennlinien</a:t>
            </a:r>
            <a:endParaRPr sz="2900">
              <a:solidFill>
                <a:srgbClr val="C00000"/>
              </a:solidFill>
            </a:endParaRPr>
          </a:p>
        </p:txBody>
      </p:sp>
      <p:sp>
        <p:nvSpPr>
          <p:cNvPr id="300" name="Google Shape;300;p3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  <p:pic>
        <p:nvPicPr>
          <p:cNvPr id="301" name="Google Shape;30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00" y="990581"/>
            <a:ext cx="6358722" cy="3775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40" descr="C:/Users/29759/Desktop/图片1.png图片1"/>
          <p:cNvPicPr preferRelativeResize="0"/>
          <p:nvPr/>
        </p:nvPicPr>
        <p:blipFill rotWithShape="1">
          <a:blip r:embed="rId3">
            <a:alphaModFix/>
          </a:blip>
          <a:srcRect t="9236" b="9244"/>
          <a:stretch/>
        </p:blipFill>
        <p:spPr>
          <a:xfrm>
            <a:off x="2369165" y="0"/>
            <a:ext cx="7858800" cy="52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0"/>
          <p:cNvSpPr/>
          <p:nvPr/>
        </p:nvSpPr>
        <p:spPr>
          <a:xfrm>
            <a:off x="-31750" y="-31300"/>
            <a:ext cx="9207500" cy="5270500"/>
          </a:xfrm>
          <a:custGeom>
            <a:avLst/>
            <a:gdLst/>
            <a:ahLst/>
            <a:cxnLst/>
            <a:rect l="l" t="t" r="r" b="b"/>
            <a:pathLst>
              <a:path w="12276666" h="7027333" extrusionOk="0">
                <a:moveTo>
                  <a:pt x="0" y="0"/>
                </a:moveTo>
                <a:lnTo>
                  <a:pt x="6738005" y="0"/>
                </a:lnTo>
                <a:lnTo>
                  <a:pt x="9000024" y="4148063"/>
                </a:lnTo>
                <a:lnTo>
                  <a:pt x="11262043" y="0"/>
                </a:lnTo>
                <a:lnTo>
                  <a:pt x="11429217" y="0"/>
                </a:lnTo>
                <a:lnTo>
                  <a:pt x="10058795" y="2560111"/>
                </a:lnTo>
                <a:lnTo>
                  <a:pt x="12276666" y="6703355"/>
                </a:lnTo>
                <a:lnTo>
                  <a:pt x="12276666" y="6887639"/>
                </a:lnTo>
                <a:lnTo>
                  <a:pt x="9977338" y="2671159"/>
                </a:lnTo>
                <a:lnTo>
                  <a:pt x="7601832" y="7027333"/>
                </a:lnTo>
                <a:lnTo>
                  <a:pt x="0" y="7027333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0"/>
          <p:cNvSpPr txBox="1">
            <a:spLocks noGrp="1"/>
          </p:cNvSpPr>
          <p:nvPr>
            <p:ph type="ctrTitle"/>
          </p:nvPr>
        </p:nvSpPr>
        <p:spPr>
          <a:xfrm>
            <a:off x="335700" y="2388742"/>
            <a:ext cx="5696700" cy="742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ct val="111111"/>
              <a:buNone/>
            </a:pPr>
            <a:r>
              <a:rPr lang="en-US" altLang="zh-CN" sz="3600" dirty="0"/>
              <a:t>5. Zusammenfassung </a:t>
            </a:r>
            <a:endParaRPr sz="3600" dirty="0"/>
          </a:p>
        </p:txBody>
      </p:sp>
      <p:sp>
        <p:nvSpPr>
          <p:cNvPr id="309" name="Google Shape;309;p40"/>
          <p:cNvSpPr txBox="1">
            <a:spLocks noGrp="1"/>
          </p:cNvSpPr>
          <p:nvPr>
            <p:ph type="sldNum" idx="4294967295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  <p:pic>
        <p:nvPicPr>
          <p:cNvPr id="310" name="Google Shape;310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159" y="88107"/>
            <a:ext cx="1062945" cy="4325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>
            <a:spLocks noGrp="1"/>
          </p:cNvSpPr>
          <p:nvPr>
            <p:ph type="title"/>
          </p:nvPr>
        </p:nvSpPr>
        <p:spPr>
          <a:xfrm>
            <a:off x="259800" y="158025"/>
            <a:ext cx="72462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ts val="4500"/>
              <a:buFont typeface="Play"/>
              <a:buNone/>
            </a:pPr>
            <a:r>
              <a:rPr lang="zh-CN" sz="2900"/>
              <a:t>Zusammenfassung</a:t>
            </a:r>
            <a:endParaRPr sz="2900"/>
          </a:p>
        </p:txBody>
      </p:sp>
      <p:sp>
        <p:nvSpPr>
          <p:cNvPr id="315" name="Google Shape;315;p4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  <p:pic>
        <p:nvPicPr>
          <p:cNvPr id="317" name="Google Shape;31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5" y="1016413"/>
            <a:ext cx="8839199" cy="3581614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1"/>
          <p:cNvSpPr txBox="1"/>
          <p:nvPr/>
        </p:nvSpPr>
        <p:spPr>
          <a:xfrm>
            <a:off x="988325" y="1488525"/>
            <a:ext cx="2025000" cy="7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>
                <a:solidFill>
                  <a:srgbClr val="0070C0"/>
                </a:solidFill>
              </a:rPr>
              <a:t>Einfaches Beispiel für Signalbearbeitung</a:t>
            </a:r>
            <a:endParaRPr sz="1300" b="1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>
            <a:spLocks noGrp="1"/>
          </p:cNvSpPr>
          <p:nvPr>
            <p:ph type="title"/>
          </p:nvPr>
        </p:nvSpPr>
        <p:spPr>
          <a:xfrm>
            <a:off x="200938" y="27556"/>
            <a:ext cx="72462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77000"/>
              </a:lnSpc>
              <a:spcBef>
                <a:spcPts val="0"/>
              </a:spcBef>
              <a:spcAft>
                <a:spcPts val="0"/>
              </a:spcAft>
              <a:buSzPts val="1222"/>
              <a:buNone/>
            </a:pPr>
            <a:r>
              <a:rPr lang="zh-CN" sz="2900"/>
              <a:t>Erreichte Meilensteine </a:t>
            </a:r>
            <a:endParaRPr sz="2900"/>
          </a:p>
        </p:txBody>
      </p:sp>
      <p:sp>
        <p:nvSpPr>
          <p:cNvPr id="324" name="Google Shape;324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  <p:sp>
        <p:nvSpPr>
          <p:cNvPr id="325" name="Google Shape;325;p42"/>
          <p:cNvSpPr txBox="1"/>
          <p:nvPr/>
        </p:nvSpPr>
        <p:spPr>
          <a:xfrm>
            <a:off x="200950" y="1155550"/>
            <a:ext cx="8588100" cy="3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/>
              <a:t>Hardwarebedingte Defizite wurden kompensiert, was zu einer verbesserten </a:t>
            </a:r>
            <a:r>
              <a:rPr lang="zh-CN" b="1"/>
              <a:t>Stabilität</a:t>
            </a:r>
            <a:r>
              <a:rPr lang="zh-CN"/>
              <a:t> über mehrere Betriebszyklen hinweg führte.</a:t>
            </a: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CN">
                <a:solidFill>
                  <a:schemeClr val="dk1"/>
                </a:solidFill>
              </a:rPr>
              <a:t>Eine hocheffiziente </a:t>
            </a:r>
            <a:r>
              <a:rPr lang="zh-CN" b="1">
                <a:solidFill>
                  <a:schemeClr val="dk1"/>
                </a:solidFill>
              </a:rPr>
              <a:t>Strom</a:t>
            </a:r>
            <a:r>
              <a:rPr lang="zh-CN">
                <a:solidFill>
                  <a:schemeClr val="dk1"/>
                </a:solidFill>
              </a:rPr>
              <a:t>- und </a:t>
            </a:r>
            <a:r>
              <a:rPr lang="zh-CN" b="1">
                <a:solidFill>
                  <a:schemeClr val="dk1"/>
                </a:solidFill>
              </a:rPr>
              <a:t>Positionsregelung</a:t>
            </a:r>
            <a:r>
              <a:rPr lang="zh-CN">
                <a:solidFill>
                  <a:schemeClr val="dk1"/>
                </a:solidFill>
              </a:rPr>
              <a:t> wurde realisiert.</a:t>
            </a: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CN">
                <a:solidFill>
                  <a:schemeClr val="dk1"/>
                </a:solidFill>
              </a:rPr>
              <a:t>Genauigkeitssteigerung: Einführung von </a:t>
            </a:r>
            <a:r>
              <a:rPr lang="zh-CN" b="1">
                <a:solidFill>
                  <a:schemeClr val="dk1"/>
                </a:solidFill>
              </a:rPr>
              <a:t>Online-Adaptive-Learning</a:t>
            </a:r>
            <a:r>
              <a:rPr lang="zh-CN">
                <a:solidFill>
                  <a:schemeClr val="dk1"/>
                </a:solidFill>
              </a:rPr>
              <a:t> und Newton-</a:t>
            </a:r>
            <a:r>
              <a:rPr lang="zh-CN" b="1">
                <a:solidFill>
                  <a:schemeClr val="dk1"/>
                </a:solidFill>
              </a:rPr>
              <a:t>Feedforward </a:t>
            </a:r>
            <a:r>
              <a:rPr lang="zh-CN">
                <a:solidFill>
                  <a:schemeClr val="dk1"/>
                </a:solidFill>
              </a:rPr>
              <a:t>konnte die Abweichung zwischen Soll- und Ist-Dehnung signifikant minimiert werden und Überschwingungen vermeiden.</a:t>
            </a:r>
            <a:endParaRPr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3" title="图片1.png"/>
          <p:cNvPicPr preferRelativeResize="0"/>
          <p:nvPr/>
        </p:nvPicPr>
        <p:blipFill rotWithShape="1">
          <a:blip r:embed="rId3">
            <a:alphaModFix/>
          </a:blip>
          <a:srcRect t="9230" b="9230"/>
          <a:stretch/>
        </p:blipFill>
        <p:spPr>
          <a:xfrm>
            <a:off x="2369164" y="0"/>
            <a:ext cx="7858799" cy="52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3"/>
          <p:cNvSpPr/>
          <p:nvPr/>
        </p:nvSpPr>
        <p:spPr>
          <a:xfrm>
            <a:off x="0" y="0"/>
            <a:ext cx="9207500" cy="5270500"/>
          </a:xfrm>
          <a:custGeom>
            <a:avLst/>
            <a:gdLst/>
            <a:ahLst/>
            <a:cxnLst/>
            <a:rect l="l" t="t" r="r" b="b"/>
            <a:pathLst>
              <a:path w="12276666" h="7027333" extrusionOk="0">
                <a:moveTo>
                  <a:pt x="0" y="0"/>
                </a:moveTo>
                <a:lnTo>
                  <a:pt x="6738005" y="0"/>
                </a:lnTo>
                <a:lnTo>
                  <a:pt x="9000024" y="4148063"/>
                </a:lnTo>
                <a:lnTo>
                  <a:pt x="11262043" y="0"/>
                </a:lnTo>
                <a:lnTo>
                  <a:pt x="11429217" y="0"/>
                </a:lnTo>
                <a:lnTo>
                  <a:pt x="10058795" y="2560111"/>
                </a:lnTo>
                <a:lnTo>
                  <a:pt x="12276666" y="6703355"/>
                </a:lnTo>
                <a:lnTo>
                  <a:pt x="12276666" y="6887639"/>
                </a:lnTo>
                <a:lnTo>
                  <a:pt x="9977338" y="2671159"/>
                </a:lnTo>
                <a:lnTo>
                  <a:pt x="7601832" y="7027333"/>
                </a:lnTo>
                <a:lnTo>
                  <a:pt x="0" y="7027333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3"/>
          <p:cNvSpPr txBox="1">
            <a:spLocks noGrp="1"/>
          </p:cNvSpPr>
          <p:nvPr>
            <p:ph type="ctrTitle"/>
          </p:nvPr>
        </p:nvSpPr>
        <p:spPr>
          <a:xfrm>
            <a:off x="181581" y="1473171"/>
            <a:ext cx="5955686" cy="158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02E"/>
              </a:buClr>
              <a:buSzPts val="4500"/>
              <a:buFont typeface="Play"/>
              <a:buNone/>
            </a:pPr>
            <a:r>
              <a:rPr lang="en-US" altLang="zh-CN" sz="3600" dirty="0"/>
              <a:t>Vielen Dank für Ihre Aufmerksamkeit</a:t>
            </a:r>
            <a:endParaRPr sz="3600" dirty="0"/>
          </a:p>
        </p:txBody>
      </p:sp>
      <p:sp>
        <p:nvSpPr>
          <p:cNvPr id="333" name="Google Shape;333;p43"/>
          <p:cNvSpPr txBox="1">
            <a:spLocks noGrp="1"/>
          </p:cNvSpPr>
          <p:nvPr>
            <p:ph type="sldNum" idx="4294967295"/>
          </p:nvPr>
        </p:nvSpPr>
        <p:spPr>
          <a:xfrm>
            <a:off x="7086600" y="4767263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lang="en-US" altLang="zh-CN"/>
              <a:t>23</a:t>
            </a:fld>
            <a:endParaRPr/>
          </a:p>
        </p:txBody>
      </p:sp>
      <p:pic>
        <p:nvPicPr>
          <p:cNvPr id="334" name="Google Shape;334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159" y="88107"/>
            <a:ext cx="1062945" cy="43259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3"/>
          <p:cNvSpPr/>
          <p:nvPr/>
        </p:nvSpPr>
        <p:spPr>
          <a:xfrm>
            <a:off x="248126" y="4040029"/>
            <a:ext cx="1600200" cy="961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Zheng Huang</a:t>
            </a:r>
            <a:endParaRPr sz="1000" b="1">
              <a:solidFill>
                <a:schemeClr val="dk1"/>
              </a:solidFill>
              <a:latin typeface="SimHei"/>
              <a:ea typeface="SimHei"/>
              <a:cs typeface="SimHei"/>
              <a:sym typeface="SimHe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Yihua Zhang</a:t>
            </a:r>
            <a:b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</a:b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Ruoqi Yang</a:t>
            </a:r>
            <a:endParaRPr sz="1000" b="1">
              <a:solidFill>
                <a:schemeClr val="dk1"/>
              </a:solidFill>
              <a:latin typeface="SimHei"/>
              <a:ea typeface="SimHei"/>
              <a:cs typeface="SimHei"/>
              <a:sym typeface="SimHe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zh-CN" sz="1000" b="1">
                <a:solidFill>
                  <a:schemeClr val="dk1"/>
                </a:solidFill>
                <a:latin typeface="SimHei"/>
                <a:ea typeface="SimHei"/>
                <a:cs typeface="SimHei"/>
                <a:sym typeface="SimHei"/>
              </a:rPr>
              <a:t>Xiyu Zhang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TU_PPT_Master_ohneBild_HDL-zweizeilig">
  <a:themeElements>
    <a:clrScheme name="Technische Universität Berlin | PowerPoint Master 1">
      <a:dk1>
        <a:srgbClr val="000000"/>
      </a:dk1>
      <a:lt1>
        <a:srgbClr val="FFFFFF"/>
      </a:lt1>
      <a:dk2>
        <a:srgbClr val="C50E1F"/>
      </a:dk2>
      <a:lt2>
        <a:srgbClr val="B2B2B2"/>
      </a:lt2>
      <a:accent1>
        <a:srgbClr val="717171"/>
      </a:accent1>
      <a:accent2>
        <a:srgbClr val="177191"/>
      </a:accent2>
      <a:accent3>
        <a:srgbClr val="FFFFFF"/>
      </a:accent3>
      <a:accent4>
        <a:srgbClr val="000000"/>
      </a:accent4>
      <a:accent5>
        <a:srgbClr val="BBBBBB"/>
      </a:accent5>
      <a:accent6>
        <a:srgbClr val="146683"/>
      </a:accent6>
      <a:hlink>
        <a:srgbClr val="53BDE3"/>
      </a:hlink>
      <a:folHlink>
        <a:srgbClr val="99CC00"/>
      </a:folHlink>
    </a:clrScheme>
    <a:fontScheme name="Technische Universität Berlin | PowerPoint 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chnische Universität Berlin | PowerPoint Master 1">
        <a:dk1>
          <a:srgbClr val="000000"/>
        </a:dk1>
        <a:lt1>
          <a:srgbClr val="FFFFFF"/>
        </a:lt1>
        <a:dk2>
          <a:srgbClr val="C50E1F"/>
        </a:dk2>
        <a:lt2>
          <a:srgbClr val="B2B2B2"/>
        </a:lt2>
        <a:accent1>
          <a:srgbClr val="717171"/>
        </a:accent1>
        <a:accent2>
          <a:srgbClr val="177191"/>
        </a:accent2>
        <a:accent3>
          <a:srgbClr val="FFFFFF"/>
        </a:accent3>
        <a:accent4>
          <a:srgbClr val="000000"/>
        </a:accent4>
        <a:accent5>
          <a:srgbClr val="BBBBBB"/>
        </a:accent5>
        <a:accent6>
          <a:srgbClr val="146683"/>
        </a:accent6>
        <a:hlink>
          <a:srgbClr val="53BDE3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Technische Universität Berlin | PowerPoint Master 1">
    <a:dk1>
      <a:srgbClr val="000000"/>
    </a:dk1>
    <a:lt1>
      <a:srgbClr val="FFFFFF"/>
    </a:lt1>
    <a:dk2>
      <a:srgbClr val="C50E1F"/>
    </a:dk2>
    <a:lt2>
      <a:srgbClr val="B2B2B2"/>
    </a:lt2>
    <a:accent1>
      <a:srgbClr val="717171"/>
    </a:accent1>
    <a:accent2>
      <a:srgbClr val="177191"/>
    </a:accent2>
    <a:accent3>
      <a:srgbClr val="FFFFFF"/>
    </a:accent3>
    <a:accent4>
      <a:srgbClr val="000000"/>
    </a:accent4>
    <a:accent5>
      <a:srgbClr val="BBBBBB"/>
    </a:accent5>
    <a:accent6>
      <a:srgbClr val="146683"/>
    </a:accent6>
    <a:hlink>
      <a:srgbClr val="53BDE3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Technische Universität Berlin | PowerPoint Master 1">
    <a:dk1>
      <a:srgbClr val="000000"/>
    </a:dk1>
    <a:lt1>
      <a:srgbClr val="FFFFFF"/>
    </a:lt1>
    <a:dk2>
      <a:srgbClr val="C50E1F"/>
    </a:dk2>
    <a:lt2>
      <a:srgbClr val="B2B2B2"/>
    </a:lt2>
    <a:accent1>
      <a:srgbClr val="717171"/>
    </a:accent1>
    <a:accent2>
      <a:srgbClr val="177191"/>
    </a:accent2>
    <a:accent3>
      <a:srgbClr val="FFFFFF"/>
    </a:accent3>
    <a:accent4>
      <a:srgbClr val="000000"/>
    </a:accent4>
    <a:accent5>
      <a:srgbClr val="BBBBBB"/>
    </a:accent5>
    <a:accent6>
      <a:srgbClr val="146683"/>
    </a:accent6>
    <a:hlink>
      <a:srgbClr val="53BDE3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377</Words>
  <Application>Microsoft Office PowerPoint</Application>
  <PresentationFormat>全屏显示(16:9)</PresentationFormat>
  <Paragraphs>111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Play</vt:lpstr>
      <vt:lpstr>SimHei</vt:lpstr>
      <vt:lpstr>Arial</vt:lpstr>
      <vt:lpstr>1_TU_PPT_Master_ohneBild_HDL-zweizeilig</vt:lpstr>
      <vt:lpstr>MSM_Abschluss- Präsentation</vt:lpstr>
      <vt:lpstr>Physischer Aufbau Systemplan Visualisierung Ergebnis Zusammenfassung und Ausblick </vt:lpstr>
      <vt:lpstr>1. Physischer Aufbau</vt:lpstr>
      <vt:lpstr>Physischer Aufbau</vt:lpstr>
      <vt:lpstr>PowerPoint 演示文稿</vt:lpstr>
      <vt:lpstr>2. Systemplan</vt:lpstr>
      <vt:lpstr>Systemplan</vt:lpstr>
      <vt:lpstr>3. Visualisierung</vt:lpstr>
      <vt:lpstr>Messprogramm</vt:lpstr>
      <vt:lpstr>PI-regler Implementierung</vt:lpstr>
      <vt:lpstr>Messprogramm</vt:lpstr>
      <vt:lpstr>Dehnungsmessung</vt:lpstr>
      <vt:lpstr>Dehnungsmessung</vt:lpstr>
      <vt:lpstr>Everett Funktionsflächenkonstruktion</vt:lpstr>
      <vt:lpstr>Everett Funktionsflächenkonstruktion</vt:lpstr>
      <vt:lpstr>4. Dehnungkontrolle Dynamik-Block &amp; Ergebnis</vt:lpstr>
      <vt:lpstr>Inverse-Kontrolle</vt:lpstr>
      <vt:lpstr>Vergleich der Kennlinien (Ohne Online-Learning &amp; Updates und Ohne Mikroschritten)</vt:lpstr>
      <vt:lpstr>Vergleich der Kennlinien</vt:lpstr>
      <vt:lpstr>5. Zusammenfassung </vt:lpstr>
      <vt:lpstr>Zusammenfassung</vt:lpstr>
      <vt:lpstr>Erreichte Meilensteine </vt:lpstr>
      <vt:lpstr>Vielen Dank für Ihre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TU-Pseudonym 17524040486004821828308678100</cp:lastModifiedBy>
  <cp:revision>3</cp:revision>
  <dcterms:modified xsi:type="dcterms:W3CDTF">2026-04-07T14:14:54Z</dcterms:modified>
</cp:coreProperties>
</file>